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359bd9082343ed" /><Relationship Type="http://schemas.openxmlformats.org/officeDocument/2006/relationships/extended-properties" Target="/docProps/app.xml" Id="Ra72acabe9b2a4151" /><Relationship Type="http://schemas.openxmlformats.org/officeDocument/2006/relationships/officeDocument" Target="/ppt/presentation.xml" Id="R63bcf188ba17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6fac17385f451d"/>
  </p:sldMasterIdLst>
  <p:notesMasterIdLst>
    <p:notesMasterId xmlns:r="http://schemas.openxmlformats.org/officeDocument/2006/relationships" r:id="R9ae75d7683144a06"/>
  </p:notesMasterIdLst>
  <p:sldIdLst>
    <p:sldId xmlns:r="http://schemas.openxmlformats.org/officeDocument/2006/relationships" id="256" r:id="R186b03cafe6d4ced"/>
    <p:sldId xmlns:r="http://schemas.openxmlformats.org/officeDocument/2006/relationships" id="257" r:id="R08c13f6e939e4e77"/>
    <p:sldId xmlns:r="http://schemas.openxmlformats.org/officeDocument/2006/relationships" id="258" r:id="Rc6cac89c9a8f41b0"/>
    <p:sldId xmlns:r="http://schemas.openxmlformats.org/officeDocument/2006/relationships" id="259" r:id="R38fd7bf265314cb3"/>
    <p:sldId xmlns:r="http://schemas.openxmlformats.org/officeDocument/2006/relationships" id="260" r:id="R3b35c150cd734e09"/>
    <p:sldId xmlns:r="http://schemas.openxmlformats.org/officeDocument/2006/relationships" id="261" r:id="R8c321a219a4a445c"/>
    <p:sldId xmlns:r="http://schemas.openxmlformats.org/officeDocument/2006/relationships" id="262" r:id="Re830c518162940eb"/>
    <p:sldId xmlns:r="http://schemas.openxmlformats.org/officeDocument/2006/relationships" id="263" r:id="Rce6838b42a614fbf"/>
    <p:sldId xmlns:r="http://schemas.openxmlformats.org/officeDocument/2006/relationships" id="264" r:id="Rc296b5f258724f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2ed21d28e2476d" /><Relationship Type="http://schemas.openxmlformats.org/officeDocument/2006/relationships/slideMaster" Target="/ppt/slideMasters/slideMaster1.xml" Id="Rd16fac17385f451d" /><Relationship Type="http://schemas.openxmlformats.org/officeDocument/2006/relationships/notesMaster" Target="/ppt/notesMasters/notesMaster1.xml" Id="R9ae75d7683144a06" /><Relationship Type="http://schemas.openxmlformats.org/officeDocument/2006/relationships/presProps" Target="/ppt/presProps.xml" Id="R9ce7cd7298bc4765" /><Relationship Type="http://schemas.openxmlformats.org/officeDocument/2006/relationships/tableStyles" Target="/ppt/tableStyles.xml" Id="R92d03d06f01e4237" /><Relationship Type="http://schemas.openxmlformats.org/officeDocument/2006/relationships/slide" Target="/ppt/slides/slide1.xml" Id="R186b03cafe6d4ced" /><Relationship Type="http://schemas.openxmlformats.org/officeDocument/2006/relationships/slide" Target="/ppt/slides/slide2.xml" Id="R08c13f6e939e4e77" /><Relationship Type="http://schemas.openxmlformats.org/officeDocument/2006/relationships/slide" Target="/ppt/slides/slide3.xml" Id="Rc6cac89c9a8f41b0" /><Relationship Type="http://schemas.openxmlformats.org/officeDocument/2006/relationships/slide" Target="/ppt/slides/slide4.xml" Id="R38fd7bf265314cb3" /><Relationship Type="http://schemas.openxmlformats.org/officeDocument/2006/relationships/slide" Target="/ppt/slides/slide5.xml" Id="R3b35c150cd734e09" /><Relationship Type="http://schemas.openxmlformats.org/officeDocument/2006/relationships/slide" Target="/ppt/slides/slide6.xml" Id="R8c321a219a4a445c" /><Relationship Type="http://schemas.openxmlformats.org/officeDocument/2006/relationships/slide" Target="/ppt/slides/slide7.xml" Id="Re830c518162940eb" /><Relationship Type="http://schemas.openxmlformats.org/officeDocument/2006/relationships/slide" Target="/ppt/slides/slide8.xml" Id="Rce6838b42a614fbf" /><Relationship Type="http://schemas.openxmlformats.org/officeDocument/2006/relationships/slide" Target="/ppt/slides/slide9.xml" Id="Rc296b5f258724f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8e843e8cb545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ee9bc31b3134d6a" /><Relationship Type="http://schemas.openxmlformats.org/officeDocument/2006/relationships/notesMaster" Target="/ppt/notesMasters/notesMaster1.xml" Id="R13da809f62ec49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0c1b0a4c3614e39" /><Relationship Type="http://schemas.openxmlformats.org/officeDocument/2006/relationships/notesMaster" Target="/ppt/notesMasters/notesMaster1.xml" Id="R3c44cc5bc2f04d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571a9444a54f43" /><Relationship Type="http://schemas.openxmlformats.org/officeDocument/2006/relationships/notesMaster" Target="/ppt/notesMasters/notesMaster1.xml" Id="R6c4c85047c2144f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fa05c7696e4f50" /><Relationship Type="http://schemas.openxmlformats.org/officeDocument/2006/relationships/notesMaster" Target="/ppt/notesMasters/notesMaster1.xml" Id="R2365cfc9c08243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de506972e74aaf" /><Relationship Type="http://schemas.openxmlformats.org/officeDocument/2006/relationships/notesMaster" Target="/ppt/notesMasters/notesMaster1.xml" Id="Rcf337e83a41442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a768eb0fc14276" /><Relationship Type="http://schemas.openxmlformats.org/officeDocument/2006/relationships/notesMaster" Target="/ppt/notesMasters/notesMaster1.xml" Id="Rf8aa5215fb1844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843ae11f15547b3" /><Relationship Type="http://schemas.openxmlformats.org/officeDocument/2006/relationships/notesMaster" Target="/ppt/notesMasters/notesMaster1.xml" Id="R496dab86005e44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70f0f0292b4888" /><Relationship Type="http://schemas.openxmlformats.org/officeDocument/2006/relationships/notesMaster" Target="/ppt/notesMasters/notesMaster1.xml" Id="Rd67957e4eb7543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f9a17d8d31428f" /><Relationship Type="http://schemas.openxmlformats.org/officeDocument/2006/relationships/notesMaster" Target="/ppt/notesMasters/notesMaster1.xml" Id="R4b6458e9c1ad46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 CAN DO IT Tencent Cloud AI Singapore Hackathon 2026 Handbook, pp. 9–13 and 35–39.</a:t>
            </a:r>
          </a:p>
          <a:p xmlns:a="http://schemas.openxmlformats.org/drawingml/2006/main">
            <a:r>
              <a:t>Source: RELAY system architecture, docs/architecture.md. Synthetic demonstration; real expert validation is required before operational use.</a:t>
            </a:r>
          </a:p>
          <a:p xmlns:a="http://schemas.openxmlformats.org/drawingml/2006/main">
            <a:r>
              <a:t>This is an independent hackathon proposal, not a Keppel product or endorsement. All scenario assets, people, requests and policy thresholds are synthetic. No realised business or energy savings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 CAN DO IT Tencent Cloud AI Singapore Hackathon 2026 Handbook, pp. 9–13 and 35–39.</a:t>
            </a:r>
          </a:p>
          <a:p xmlns:a="http://schemas.openxmlformats.org/drawingml/2006/main">
            <a:r>
              <a:t>Source: Keppel, Keppel South Central: A Sustainable Workplace for the Talents of Tomorrow, published January 2024. https://www.keppel.com/realestate/Special-Features-Library/Keppel-South-Central---A-Sustainable-Workplace-for-the-Talents-of-Tomorrow . The article documents micro-zoned independently cooled areas for after-hours and 24/7 tenants. It does not supply RELAY policy thresholds or tenant operating data.</a:t>
            </a:r>
          </a:p>
          <a:p xmlns:a="http://schemas.openxmlformats.org/drawingml/2006/main">
            <a:r>
              <a:t>Source: RELAY system architecture, docs/architecture.md. Synthetic demonstration; real expert validation is required before operational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 CAN DO IT Tencent Cloud AI Singapore Hackathon 2026 Handbook, pp. 9–13 and 35–39.</a:t>
            </a:r>
          </a:p>
          <a:p xmlns:a="http://schemas.openxmlformats.org/drawingml/2006/main">
            <a:r>
              <a:t>Source: RELAY system architecture, docs/architecture.md. Synthetic demonstration; real expert validation is required before operational use.</a:t>
            </a:r>
          </a:p>
          <a:p xmlns:a="http://schemas.openxmlformats.org/drawingml/2006/main">
            <a:r>
              <a:t>The sample interview is fictional, not an interview with a Keppel facilities expert.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 CAN DO IT Tencent Cloud AI Singapore Hackathon 2026 Handbook, pp. 9–13 and 35–39.</a:t>
            </a:r>
          </a:p>
          <a:p xmlns:a="http://schemas.openxmlformats.org/drawingml/2006/main">
            <a:r>
              <a:t>Source: RELAY system architecture, docs/architecture.md. Synthetic demonstration; real expert validation is required before operational use.</a:t>
            </a:r>
          </a:p>
          <a:p xmlns:a="http://schemas.openxmlformats.org/drawingml/2006/main">
            <a:r>
              <a:t>All specialist checks in this credential-free prototype are deterministic. They do not call live LLMs or building systems. The manager action illustrates a decision workflow, not BMS actuation.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RELAY system architecture, docs/architecture.md. Synthetic demonstration; real expert validation is required before operational use.</a:t>
            </a:r>
          </a:p>
          <a:p xmlns:a="http://schemas.openxmlformats.org/drawingml/2006/main">
            <a:r>
              <a:t>The capture workflow structures a fictional expert interview into a draft Intelligence Pill, preserving context and exceptions. The prototype runs standalone without a model API key. Local reviewer names simulate governance in this prototype.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Future services: Tencent Cloud ADP Chat API requires a published application and AppKey, https://www.tencentcloud.com/document/product/1254/81449 . Tencent Hunyuan compatibility documentation requires an API key and notes migration toward TokenHub, https://cloud.tencent.com/document/product/1729/111007 . No cloud or Hunyuan integration is claimed for this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RELAY system architecture, docs/architecture.md. Synthetic demonstration; real expert validation is required before operational use.</a:t>
            </a:r>
          </a:p>
          <a:p xmlns:a="http://schemas.openxmlformats.org/drawingml/2006/main">
            <a:r>
              <a:t>Source: Keppel, Keppel South Central: A Sustainable Workplace for the Talents of Tomorrow, published January 2024. https://www.keppel.com/realestate/Special-Features-Library/Keppel-South-Central---A-Sustainable-Workplace-for-the-Talents-of-Tomorrow . The article documents micro-zoned independently cooled areas for after-hours and 24/7 tenants. It does not supply RELAY policy thresholds or tenant operating data.</a:t>
            </a:r>
          </a:p>
          <a:p xmlns:a="http://schemas.openxmlformats.org/drawingml/2006/main">
            <a:r>
              <a:t>Tower A and Tower B are synthetic assets. Outcomes illustrate intended context gates, not measured building performance. Unknown or shared isolation and unknown tenant entitlement require escalation.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RELAY system architecture, docs/architecture.md. Synthetic demonstration; real expert validation is required before operational use.</a:t>
            </a:r>
          </a:p>
          <a:p xmlns:a="http://schemas.openxmlformats.org/drawingml/2006/main">
            <a:r>
              <a:t>AlphaEvolve inspiration: Novikov et al., AlphaEvolve: A coding agent for scientific and algorithmic discovery, arXiv:2506.13131v1, https://arxiv.org/abs/2506.13131v1 , pp. 3–8 and 21. RELAY borrows a bounded proposal/evaluation/archive loop. It does not reproduce AlphaEvolve, train models or automatically publish improvements. No test counts are asserted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RELAY system architecture, docs/architecture.md. Synthetic demonstration; real expert validation is required before operational use.</a:t>
            </a:r>
          </a:p>
          <a:p xmlns:a="http://schemas.openxmlformats.org/drawingml/2006/main">
            <a:r>
              <a:t>No achieved test totals, Tencent product usage, operational savings or causal business outcomes are claimed. Pilot targets require actual baselines and independent facilities expert review. Self-authored synthetic fixtures test software consistency, not building physics.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AI CAN DO IT Tencent Cloud AI Singapore Hackathon 2026 Handbook, pp. 9–13 and 35–39.</a:t>
            </a:r>
          </a:p>
          <a:p xmlns:a="http://schemas.openxmlformats.org/drawingml/2006/main">
            <a:r>
              <a:t>Source: RELAY system architecture, docs/architecture.md. Synthetic demonstration; real expert validation is required before operational use.</a:t>
            </a:r>
          </a:p>
          <a:p xmlns:a="http://schemas.openxmlformats.org/drawingml/2006/main">
            <a:r>
              <a:t>This slide distinguishes the working prototype from requirements for operational use. All operational examples are synthetic.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afd6daff7d4c8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d91eac81054d0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e7a16a4ab48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f025832f3e4c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a49c2b71f047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69d19ac2949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35D8201-6B83-4CE0-9BF5-44D43DF7D3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3AA8E3E-7666-4812-AC97-2554F66ED57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637D7DD-457B-43F3-A972-3B64EF3EA3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49D3A1-709B-4E83-B48B-8CA4DE3178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CE02042-AA1B-4E75-875D-4B34A062EF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D3F87F7-A966-43D6-A25F-B2135C2A2FD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6E0B370-C1A3-49C8-B307-2486A49644C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80DE94-043D-463B-AA82-E0C6490BAE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AD3B23-56EE-4ABE-94BE-44E5477009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09E878-1ED2-47B9-B346-0E1931A087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8b733d69faa4f4e" /><Relationship Type="http://schemas.openxmlformats.org/officeDocument/2006/relationships/slideLayout" Target="/ppt/slideLayouts/slideLayout1.xml" Id="Raaecf00eae5c4edd" /><Relationship Type="http://schemas.openxmlformats.org/officeDocument/2006/relationships/slideLayout" Target="/ppt/slideLayouts/slideLayout2.xml" Id="Ra450b83be14e43bf" /><Relationship Type="http://schemas.openxmlformats.org/officeDocument/2006/relationships/slideLayout" Target="/ppt/slideLayouts/slideLayout3.xml" Id="R28ac5bed399342ca" /><Relationship Type="http://schemas.openxmlformats.org/officeDocument/2006/relationships/slideLayout" Target="/ppt/slideLayouts/slideLayout4.xml" Id="R381364fee6ed48c3" /><Relationship Type="http://schemas.openxmlformats.org/officeDocument/2006/relationships/slideLayout" Target="/ppt/slideLayouts/slideLayout5.xml" Id="Rd5f09c9e7c6e4b55" /><Relationship Type="http://schemas.openxmlformats.org/officeDocument/2006/relationships/slideLayout" Target="/ppt/slideLayouts/slideLayout6.xml" Id="R51f89879e4d246c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ecf00eae5c4edd"/>
    <p:sldLayoutId xmlns:r="http://schemas.openxmlformats.org/officeDocument/2006/relationships" id="2147483650" r:id="Ra450b83be14e43bf"/>
    <p:sldLayoutId xmlns:r="http://schemas.openxmlformats.org/officeDocument/2006/relationships" id="2147483651" r:id="R28ac5bed399342ca"/>
    <p:sldLayoutId xmlns:r="http://schemas.openxmlformats.org/officeDocument/2006/relationships" id="2147483652" r:id="R381364fee6ed48c3"/>
    <p:sldLayoutId xmlns:r="http://schemas.openxmlformats.org/officeDocument/2006/relationships" id="2147483653" r:id="Rd5f09c9e7c6e4b55"/>
    <p:sldLayoutId xmlns:r="http://schemas.openxmlformats.org/officeDocument/2006/relationships" id="2147483654" r:id="R51f89879e4d246c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02fab339a684cdd" /><Relationship Type="http://schemas.openxmlformats.org/officeDocument/2006/relationships/notesSlide" Target="/ppt/notesSlides/notesSlide1.xml" Id="R27e6cb3a1af4496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d93729aa2247c7" /><Relationship Type="http://schemas.openxmlformats.org/officeDocument/2006/relationships/notesSlide" Target="/ppt/notesSlides/notesSlide2.xml" Id="R43da345257e448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cb3bf45ec94094" /><Relationship Type="http://schemas.openxmlformats.org/officeDocument/2006/relationships/notesSlide" Target="/ppt/notesSlides/notesSlide3.xml" Id="R4706af4acd504df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74e502b3bf45ab" /><Relationship Type="http://schemas.openxmlformats.org/officeDocument/2006/relationships/notesSlide" Target="/ppt/notesSlides/notesSlide4.xml" Id="R0286a27da9c546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f59c879a5f44dc" /><Relationship Type="http://schemas.openxmlformats.org/officeDocument/2006/relationships/notesSlide" Target="/ppt/notesSlides/notesSlide5.xml" Id="R5a2a4f26ef9e40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ed4c0bdbc04934" /><Relationship Type="http://schemas.openxmlformats.org/officeDocument/2006/relationships/notesSlide" Target="/ppt/notesSlides/notesSlide6.xml" Id="R9931a86db173436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973c46e2d44c94" /><Relationship Type="http://schemas.openxmlformats.org/officeDocument/2006/relationships/notesSlide" Target="/ppt/notesSlides/notesSlide7.xml" Id="R9c4d192a530545c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8d6ecd65c4eaa" /><Relationship Type="http://schemas.openxmlformats.org/officeDocument/2006/relationships/notesSlide" Target="/ppt/notesSlides/notesSlide8.xml" Id="R1c4f64740db54d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28d7fc07d3487c" /><Relationship Type="http://schemas.openxmlformats.org/officeDocument/2006/relationships/notesSlide" Target="/ppt/notesSlides/notesSlide9.xml" Id="R786b15c79c3c42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674F8-E2A3-4D3C-BABB-D5FEC6C2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KEPPEL REAL ESTATE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D51ACB-F86E-4212-BEA0-7F86E05E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6202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AI HARVEST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DBF402-C156-4354-AA44-21111889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3835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75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75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RELAY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7F75E5-5458-4398-94E1-6B248667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9525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775C"/>
                </a:solidFill>
                <a:latin typeface="Arial"/>
                <a:ea typeface="Arial"/>
                <a:cs typeface="Arial"/>
              </a:rPr>
              <a:t>Expert know-how, safely reused</a:t>
            </a:r>
          </a:p>
          <a:p xmlns:a="http://schemas.openxmlformats.org/drawingml/2006/main">
            <a:pPr>
              <a:defRPr sz="3000" b="0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18775C"/>
                </a:solidFill>
                <a:latin typeface="Arial"/>
                <a:ea typeface="Arial"/>
                <a:cs typeface="Arial"/>
              </a:rPr>
              <a:t>across every building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9A3D95-9B92-400E-9FFC-86481A77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Governed Intelligence Pills for after-hours cooling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320CEA-D157-4F9B-BEDB-AA05B5AC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Public prototype with synthetic scenarios</a:t>
            </a:r>
          </a:p>
        </p:txBody>
      </p:sp>
    </p:spTree>
    <p:extLst>
      <p:ext uri="{BB962C8B-B14F-4D97-AF65-F5344CB8AC3E}">
        <p14:creationId xmlns:p14="http://schemas.microsoft.com/office/powerpoint/2010/main" val="11776421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8AF1C8-E69C-4D61-B459-8FE0CAB1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After-hours cooling decisions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90E99286-BD34-4E30-B37F-3C483116E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50E8E3-06EF-44B0-87C3-C474B25C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6C5208-8C1D-4E8A-971B-0FC32AED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THE KNOWLEDGE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1320AA-EED3-49FC-924D-3797D672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A veteran knows when an exception</a:t>
            </a:r>
          </a:p>
          <a:p xmlns:a="http://schemas.openxmlformats.org/drawingml/2006/main">
            <a: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is safe to consider.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The next shift needs that reasoning,</a:t>
            </a:r>
          </a:p>
          <a:p xmlns:a="http://schemas.openxmlformats.org/drawingml/2006/main">
            <a: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including when to stop.</a:t>
            </a:r>
          </a:p>
        </p:txBody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37423BA5-280A-44D1-95BB-B4B1D78E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90700"/>
            <a:ext cx="285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3037D-41B7-473A-BEB9-34492255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165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DOCUMENTED 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DBD3C-5288-4B4C-A4E1-D6E68725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Keppel South Central describes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independent cooling zones for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after-hours and 24/7 tenants.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D8989-7591-4213-BD31-386FD598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671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RELAY explores how staff capture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the exception rules behind a decision.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25B43C-971F-482B-BD93-43057BE61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Synthetic example: a tenant requests cooling after normal hours.</a:t>
            </a:r>
          </a:p>
        </p:txBody>
      </p:sp>
    </p:spTree>
    <p:extLst>
      <p:ext uri="{BB962C8B-B14F-4D97-AF65-F5344CB8AC3E}">
        <p14:creationId xmlns:p14="http://schemas.microsoft.com/office/powerpoint/2010/main" val="1523422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5B3008-D1D6-4951-A3A1-0DBE33E0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Expert elicitation and the pill contract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E736D6CA-3751-44B1-B5E9-DE948912B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8B6ABD-D196-4371-89C1-C014B930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04561900-569E-4E23-AA2F-3422F09D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5A1CE5-0FBE-4AD2-91C8-00F0870C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Expert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1B587-B5BF-4D1E-B670-2FF41C45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85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What changes the decision?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What must we verify?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When must we escalate?</a:t>
            </a:r>
          </a:p>
        </p:txBody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B09DAD98-1CE2-4EE3-ADD7-D508F2572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4A57B0-894A-4B06-BFCE-48720C59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669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Draft Intelligence Pill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33108F-E769-4651-B48C-15025C41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85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Source excerpts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Context and exceptions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Structured JSON output</a:t>
            </a:r>
          </a:p>
        </p:txBody>
      </p:sp>
      <p:sp>
        <p:nvSpPr>
          <p:cNvPr id="1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597423B8-FF8C-4C07-99E3-3C7E2477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95500"/>
            <a:ext cx="3238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42501-25C8-48A0-95A0-580C67577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2669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Intelligence Pill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676F82-675D-4E4D-8B44-B2E010A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781300"/>
            <a:ext cx="28575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Required evidence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Allowed decision policy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Owner and guardrails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5A088-BB54-42FC-BD08-DED14BC1086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848100" y="3333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911E3-EE65-4D13-98E3-82F12243D6F8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15250" y="33337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8C5074-2AA2-4643-832A-A42D7D5A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A person reviews the draft before import. New imports remain drafts.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93EC6-C1F6-44D1-9E6A-5A9E5EA3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Drafts require evaluation and expert review before release.</a:t>
            </a:r>
          </a:p>
        </p:txBody>
      </p:sp>
    </p:spTree>
    <p:extLst>
      <p:ext uri="{BB962C8B-B14F-4D97-AF65-F5344CB8AC3E}">
        <p14:creationId xmlns:p14="http://schemas.microsoft.com/office/powerpoint/2010/main" val="145160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42CBB-846E-4988-AC53-FEC083FF1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Supervised operating workflow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065C71BD-DAA2-48E1-94BE-D04240022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71396-7073-41F7-89FD-63EE228F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40C2E09A-0024-44F9-AB06-2BA2A3DE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057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3CDDC-2E8C-4842-A94E-0B3AAC41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Tenant request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50ED7-78D4-463A-80D7-D46A19718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1676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Asset and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request details</a:t>
            </a:r>
          </a:p>
        </p:txBody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15A06C8A-D877-4C2B-BBCF-9223A3776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095500"/>
            <a:ext cx="2057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1B2EC-D61F-4C15-B3EA-E22B71B7D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Specialist checks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9FFBBC-CF42-49D1-A406-F6915B58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48000"/>
            <a:ext cx="1676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Operations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tenant service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energy rules</a:t>
            </a:r>
          </a:p>
        </p:txBody>
      </p:sp>
      <p:sp>
        <p:nvSpPr>
          <p:cNvPr id="1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90F097B5-857C-4342-AC14-A5ACB9C6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095500"/>
            <a:ext cx="2057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A619E2-D22B-49E5-B00D-0ED34146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66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Decision trace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6E52CD-C417-48C5-A223-D8F6892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048000"/>
            <a:ext cx="1676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Evidence and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rule reasons</a:t>
            </a:r>
          </a:p>
        </p:txBody>
      </p:sp>
      <p:sp>
        <p:nvSpPr>
          <p:cNvPr id="13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03F47BCE-F569-4C5B-9886-F2637B24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095500"/>
            <a:ext cx="2057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5E28D-779F-499B-9D70-31EE653A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66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Manager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1C8A7-2BDF-4FA9-85E0-9C8A0F1E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48000"/>
            <a:ext cx="1676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Confirm, clarify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or escalate</a:t>
            </a:r>
          </a:p>
        </p:txBody>
      </p:sp>
      <p:sp>
        <p:nvSpPr>
          <p:cNvPr id="1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088BE733-EBD7-47C3-AF87-29EB94DD7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574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5851D1-611A-446D-B9A4-6BE27D75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266950"/>
            <a:ext cx="1676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Feedback record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3441C-8A20-4561-93B4-5C6214658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48000"/>
            <a:ext cx="16764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Correction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creates a draft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DD03E0-C2F5-4E98-A028-4BB45A0DBAF8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67000" y="3333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3B5570-5B00-4C22-91E6-D910EE42B51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895850" y="3333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891E4D-BACF-49C0-9CB7-BD5F3C30186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124700" y="3333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18D7F2-3BC7-4131-BE37-B569F8EC5B7C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353550" y="33337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3403F-A612-40B0-B66A-28CFDE92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USER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96FF36-D524-4B2C-8143-485BAEFA6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857750"/>
            <a:ext cx="4286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GUARDED CORE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4A4FE3-CC1A-48C9-B012-7221518B5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857750"/>
            <a:ext cx="2057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HUMAN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963306-2A92-48F4-9BAD-AD094D09A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The app supports recommendations and escalation. It has no building controls.</a:t>
            </a:r>
          </a:p>
        </p:txBody>
      </p:sp>
    </p:spTree>
    <p:extLst>
      <p:ext uri="{BB962C8B-B14F-4D97-AF65-F5344CB8AC3E}">
        <p14:creationId xmlns:p14="http://schemas.microsoft.com/office/powerpoint/2010/main" val="21428373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54C948-66DA-4B8F-B5FD-2336D760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Technical architecture and trust boundaries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8EE04A4-0EFE-4A56-93F5-A76B33CF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B997B-C361-49C5-B792-9E34404A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EB94D-B2A8-4A84-9E41-9AB9C910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EXPERTISE CAPTURE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797FF4-900F-4ECF-9152-B344C3E9D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1704975"/>
            <a:ext cx="4457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PUBLIC STATIC DEMO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3F8D8-309C-4EBE-A014-4A4C4C95C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04975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BROWSER LOCAL</a:t>
            </a:r>
          </a:p>
        </p:txBody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8B18BC72-9C65-4AE7-82A5-1EDF5EDAC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2714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B44BE-1AD9-434B-B7B7-3D419C43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19350"/>
            <a:ext cx="2333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Expert interview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2FC270-25FD-44B3-8D09-F0F67E8E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33700"/>
            <a:ext cx="233362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Sample interview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Context and exceptions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Draft Intelligence Pill</a:t>
            </a:r>
          </a:p>
        </p:txBody>
      </p:sp>
      <p:sp>
        <p:nvSpPr>
          <p:cNvPr id="10" name="browser-trust-boundary">
            <a:extLst xmlns:a="http://schemas.openxmlformats.org/drawingml/2006/main">
              <a:ext uri="{FF2B5EF4-FFF2-40B4-BE49-F238E27FC236}">
                <a16:creationId xmlns:a16="http://schemas.microsoft.com/office/drawing/2014/main" id="{FD8FEB83-88CA-4774-AB08-D6361F309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143125"/>
            <a:ext cx="47339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8775C"/>
            </a:solidFill>
            <a:prstDash val="solid"/>
          </a:ln>
        </p:spPr>
      </p:sp>
      <p:sp>
        <p:nvSpPr>
          <p:cNvPr id="11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975BFCA8-F778-4D63-8B47-350BBE78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352675"/>
            <a:ext cx="43529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00C77A-AC30-4944-B81F-17A531CA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76500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Application interface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0698AA-7ECE-4A90-A112-690212AB8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895600"/>
            <a:ext cx="3971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Capture, library and incident views</a:t>
            </a:r>
          </a:p>
        </p:txBody>
      </p:sp>
      <p:sp>
        <p:nvSpPr>
          <p:cNvPr id="1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77A3E38-6277-4971-87F6-B300640C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00450"/>
            <a:ext cx="4352925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28CA6-9D84-47AC-B575-DFF10F6F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24275"/>
            <a:ext cx="39719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Deterministic 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19D01C-5ED0-47A6-87E2-BD501FAD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143375"/>
            <a:ext cx="39719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Schema checks, policy and replay</a:t>
            </a:r>
          </a:p>
        </p:txBody>
      </p:sp>
      <p:sp>
        <p:nvSpPr>
          <p:cNvPr id="1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7013EA6A-C833-4CF5-9F29-D545CC46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47900"/>
            <a:ext cx="22860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43B67D-9EF2-43F6-A564-53CB63C0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19350"/>
            <a:ext cx="190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Demo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833709B-8EC2-42E6-9E54-E4A63EA1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00400"/>
            <a:ext cx="1905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Pills and feedback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Simulated reviewer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Release history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C40A2A-D5EE-4C5A-9534-5E23362D1B2C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3324225" y="2833688"/>
            <a:ext cx="809625" cy="652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657D9B-19C6-4712-A5CE-786970BB109F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310313" y="33147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DD8B1A-B210-4FEB-A794-15538FDB5A9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486775" y="3486150"/>
            <a:ext cx="809625" cy="595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5DB040-0B3A-49D8-B794-C0E8869F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Production path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81C9C8-5D75-4875-B21F-1C6F2685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229225"/>
            <a:ext cx="8343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Tencent identity and storage, trusted audit, optional ADP/Hunyuan runtime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9B00E0-7884-4B63-80A1-DAFFA7A9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388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Local roles and logs simulate governance within this browser.</a:t>
            </a:r>
          </a:p>
        </p:txBody>
      </p:sp>
    </p:spTree>
    <p:extLst>
      <p:ext uri="{BB962C8B-B14F-4D97-AF65-F5344CB8AC3E}">
        <p14:creationId xmlns:p14="http://schemas.microsoft.com/office/powerpoint/2010/main" val="6244893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8414E-85A1-4FDB-88D2-29C83AC03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One pill, two asset contexts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9D2C6A8-DDC9-40CC-B6E0-9BCBE0F4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4CD944-BF6E-4E09-A616-2F71142D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DBE93C-3FF5-481A-8694-EAFC13DF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SAME AFTER-HOURS COOLING PILL</a:t>
            </a:r>
          </a:p>
        </p:txBody>
      </p:sp>
      <p:sp>
        <p:nvSpPr>
          <p:cNvPr id="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EEEC9D3-056C-4AB2-86A1-13CC2BFD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72782DC7-0569-444A-BF04-EBC8E60B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5219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6728A-F5A7-4656-B71E-49BA3484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71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Tower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843E69-6DC8-45E4-BED6-516F1C8DF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9565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Verified independent zone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Lease entitlement confirmed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Required evidence available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2855DB-B0E3-4A2F-8DD9-120B91BF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672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Recommendation for manager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309CD8-82E7-4A43-B9C2-E77823FC3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466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27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27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Tower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09BC35-9F67-4B0D-A59E-461B4E0C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95650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Shared or unknown isolation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Tenant entitlement unknown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Context contract fails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917F97-3B4F-483C-A19A-6E76A1C3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672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A34F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A34F4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34F40"/>
                </a:solidFill>
                <a:latin typeface="Arial"/>
                <a:ea typeface="Arial"/>
                <a:cs typeface="Arial"/>
              </a:rPr>
              <a:t>Escalation and transfer refusal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77B43D-9968-47C7-9934-8D5B9F63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Portable knowledge retains its boundaries. Unknown evidence never means approval.</a:t>
            </a:r>
          </a:p>
        </p:txBody>
      </p:sp>
    </p:spTree>
    <p:extLst>
      <p:ext uri="{BB962C8B-B14F-4D97-AF65-F5344CB8AC3E}">
        <p14:creationId xmlns:p14="http://schemas.microsoft.com/office/powerpoint/2010/main" val="15153152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2A6A7-D94D-42C8-BB7A-EDE818D1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Replay, human release and rollback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EFEF9C5-AD20-4863-A4BC-5155C390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E07E97-FB29-49DF-92B4-70B76798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F256991-3FE5-4FF5-A7EE-7BAD55230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EDFAB7-D339-4816-BDC9-8F16A50E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90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Draft proposal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2D3E2C-6F3C-404B-A553-274CF6972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05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Expert correction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or imported draft</a:t>
            </a:r>
          </a:p>
        </p:txBody>
      </p:sp>
      <p:sp>
        <p:nvSpPr>
          <p:cNvPr id="7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21F9A01-58C2-4333-A0E3-ADB77265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193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5F922-8A4A-413D-8E21-B3CEAE29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190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Fixed replay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140280-C3A4-4E77-9125-33B379CDA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705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Fixed external cases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Critical failure veto</a:t>
            </a:r>
          </a:p>
        </p:txBody>
      </p:sp>
      <p:sp>
        <p:nvSpPr>
          <p:cNvPr id="10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98FB2B8-C538-49C9-998D-D0ADEB173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FDF53-28C2-4215-8978-6E7F761B8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Candidate 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B167C0-223C-49A3-A272-D4AEA990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7051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Version and differences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Replay evidence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01537-257E-4059-AC4E-3BCF4798C7B5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52850" y="27813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6B291F-DF97-428F-8731-176B2E6F2E3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667625" y="27813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sp>
        <p:nvSpPr>
          <p:cNvPr id="15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CB1EB36D-A494-4D34-BFB8-03015C1DE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148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D4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4F3E10-223B-440E-8A02-2A723FE7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86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Human release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71E4AE-AAD3-4232-881A-E20FCA26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00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Named demo reviewer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Version fingerprint</a:t>
            </a:r>
          </a:p>
        </p:txBody>
      </p:sp>
      <p:sp>
        <p:nvSpPr>
          <p:cNvPr id="18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56B30809-8E25-4790-95E1-658BCEDC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148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328FC-FF72-4479-AC58-F80299733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286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Released version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803019-20DE-4CAB-ADEB-D2FCBF19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4800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Incident Desk version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Rollback to prior release</a:t>
            </a:r>
          </a:p>
        </p:txBody>
      </p:sp>
      <p:sp>
        <p:nvSpPr>
          <p:cNvPr id="21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B631FED3-1BCB-42CC-ADD4-8E206C46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14800"/>
            <a:ext cx="3143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E5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3E70F7-E00E-4AC8-AC25-DF3B54CA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286250"/>
            <a:ext cx="276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12B"/>
                </a:solidFill>
                <a:latin typeface="Arial"/>
                <a:ea typeface="Arial"/>
                <a:cs typeface="Arial"/>
              </a:rPr>
              <a:t>Feedback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78DED7-9E9E-4695-B613-123083A4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00600"/>
            <a:ext cx="2762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Review records first</a:t>
            </a:r>
          </a:p>
          <a:p xmlns:a="http://schemas.openxmlformats.org/drawingml/2006/main">
            <a:pPr>
              <a:defRPr sz="18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Policy stays unchanged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487D7C-F066-419B-93B4-99A7B7C9DC89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3752850" y="48768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1D9586-05B0-4184-9D91-2C8CCDFF278D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667625" y="4876800"/>
            <a:ext cx="7715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54EC8E-C992-4A37-8910-B59194507AF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2181225" y="3543300"/>
            <a:ext cx="3914775" cy="5715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18775C"/>
            </a:solidFill>
            <a:prstDash val="solid"/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367BC5-9E76-4754-A20C-F0844082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57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Acceptance cases stay separate from exploratory replay feedback.</a:t>
            </a:r>
          </a:p>
        </p:txBody>
      </p:sp>
    </p:spTree>
    <p:extLst>
      <p:ext uri="{BB962C8B-B14F-4D97-AF65-F5344CB8AC3E}">
        <p14:creationId xmlns:p14="http://schemas.microsoft.com/office/powerpoint/2010/main" val="20356526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006A68-704E-41F1-B6E9-2C48A11DD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Measurement and business assumptions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7C2913F0-5762-490A-A3CE-498E7AA7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C62C98-7075-417F-A300-A6CB041B7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4E5876-25E7-4B7F-BDE0-8BEB6373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PROTOTYPE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35F52-05C7-422B-92C4-EB73140F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9587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Actual acceptance results</a:t>
            </a:r>
          </a:p>
          <a:p xmlns:a="http://schemas.openxmlformats.org/drawingml/2006/main">
            <a: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Critical failure count</a:t>
            </a:r>
          </a:p>
          <a:p xmlns:a="http://schemas.openxmlformats.org/drawingml/2006/main">
            <a: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Invalid transfers refused</a:t>
            </a:r>
          </a:p>
          <a:p xmlns:a="http://schemas.openxmlformats.org/drawingml/2006/main">
            <a:pPr>
              <a:defRPr sz="225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Export and replay consistency</a:t>
            </a:r>
          </a:p>
        </p:txBody>
      </p:sp>
      <p:sp>
        <p:nvSpPr>
          <p:cNvPr id="6" name="diagram-node">
            <a:extLst xmlns:a="http://schemas.openxmlformats.org/drawingml/2006/main">
              <a:ext uri="{FF2B5EF4-FFF2-40B4-BE49-F238E27FC236}">
                <a16:creationId xmlns:a16="http://schemas.microsoft.com/office/drawing/2014/main" id="{2AB5A7C8-664C-4536-8D12-55465F7EF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28800"/>
            <a:ext cx="285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D0B75-9908-4897-853A-DDD3DFBE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288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PILOT MEASUREMENT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C24E5-3277-4E03-B694-71A4027E4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Median time to supervised decision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Expert interruptions per request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Appropriate escalation rate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First-time evidence completeness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A3286-A229-4E5D-92CE-BF0F7C73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Pilot targets need a measured baseline. RELAY claims no achieved energy savings.</a:t>
            </a:r>
          </a:p>
        </p:txBody>
      </p:sp>
    </p:spTree>
    <p:extLst>
      <p:ext uri="{BB962C8B-B14F-4D97-AF65-F5344CB8AC3E}">
        <p14:creationId xmlns:p14="http://schemas.microsoft.com/office/powerpoint/2010/main" val="17276475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B8F8C-80DA-4BD4-8378-816F733A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18312B"/>
                </a:solidFill>
                <a:latin typeface="Georgia"/>
                <a:ea typeface="Georgia"/>
                <a:cs typeface="Georgia"/>
              </a:defRPr>
            </a:pPr>
            <a:r>
              <a:rPr sz="3300" b="0">
                <a:solidFill>
                  <a:srgbClr val="18312B"/>
                </a:solidFill>
                <a:latin typeface="Georgia"/>
                <a:ea typeface="Georgia"/>
                <a:cs typeface="Georgia"/>
              </a:rPr>
              <a:t>Implementation scope and next steps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18C9377-3FFE-4DED-98A4-8838AF6BC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2C8"/>
          </a:solidFill>
          <a:ln xmlns:a="http://schemas.openxmlformats.org/drawingml/2006/main" w="11430">
            <a:solidFill>
              <a:srgbClr val="C8D2C8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21435E-F783-433B-88B1-ADCFD2EE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E07BA7-75C7-4DC2-8264-B1AFC7ED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PUBLIC PROTOTYPE SCOPE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53870A-E2C7-4974-960A-A871566A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57450"/>
            <a:ext cx="5429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One cooling exception scenario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Synthetic assets and expertise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JSON import and portable export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Deterministic checks and replay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Browser-local release simulation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F2070-385B-4ED9-92ED-EDB86813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288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18775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8775C"/>
                </a:solidFill>
                <a:latin typeface="Arial"/>
                <a:ea typeface="Arial"/>
                <a:cs typeface="Arial"/>
              </a:rPr>
              <a:t>BEFORE OPERATIONAL USE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98334-170C-498A-9207-2AF058CC8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57450"/>
            <a:ext cx="47244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Independent facilities expert review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Trusted identity and permissions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Server storage and audit controls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Site data access and commissioning</a:t>
            </a:r>
          </a:p>
          <a:p xmlns:a="http://schemas.openxmlformats.org/drawingml/2006/main">
            <a:pPr>
              <a:defRPr sz="2100" b="0">
                <a:solidFill>
                  <a:srgbClr val="18312B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312B"/>
                </a:solidFill>
                <a:latin typeface="Arial"/>
                <a:ea typeface="Arial"/>
                <a:cs typeface="Arial"/>
              </a:rPr>
              <a:t>Optional Tencent model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5C1B8-216A-478A-BC0A-E0FDD668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96A6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A61"/>
                </a:solidFill>
                <a:latin typeface="Arial"/>
                <a:ea typeface="Arial"/>
                <a:cs typeface="Arial"/>
              </a:rPr>
              <a:t>Next validation: an expert-approved pill, real requests and a supervised pilot.</a:t>
            </a:r>
          </a:p>
        </p:txBody>
      </p:sp>
    </p:spTree>
    <p:extLst>
      <p:ext uri="{BB962C8B-B14F-4D97-AF65-F5344CB8AC3E}">
        <p14:creationId xmlns:p14="http://schemas.microsoft.com/office/powerpoint/2010/main" val="993233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2026-10-16T13:21:43.2650000Z</dcterms:created>
  <dcterms:modified xsi:type="dcterms:W3CDTF">2026-10-16T13:21:43.2650000Z</dcterms:modified>
</coreProperties>
</file>